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aba4267f974732" /><Relationship Type="http://schemas.openxmlformats.org/officeDocument/2006/relationships/extended-properties" Target="/docProps/app.xml" Id="Rfb11abb579e64764" /><Relationship Type="http://schemas.openxmlformats.org/officeDocument/2006/relationships/officeDocument" Target="/ppt/presentation.xml" Id="R22eae8456be847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9047dd246841ce"/>
  </p:sldMasterIdLst>
  <p:notesMasterIdLst>
    <p:notesMasterId xmlns:r="http://schemas.openxmlformats.org/officeDocument/2006/relationships" r:id="Rbb9b77fe215348ca"/>
  </p:notesMasterIdLst>
  <p:sldIdLst>
    <p:sldId xmlns:r="http://schemas.openxmlformats.org/officeDocument/2006/relationships" id="256" r:id="Rff470a38ee594f52"/>
    <p:sldId xmlns:r="http://schemas.openxmlformats.org/officeDocument/2006/relationships" id="257" r:id="R7fdb55e6d95d42ce"/>
    <p:sldId xmlns:r="http://schemas.openxmlformats.org/officeDocument/2006/relationships" id="258" r:id="R03af0165152048e5"/>
    <p:sldId xmlns:r="http://schemas.openxmlformats.org/officeDocument/2006/relationships" id="259" r:id="R13671d09ee6a4dc3"/>
    <p:sldId xmlns:r="http://schemas.openxmlformats.org/officeDocument/2006/relationships" id="260" r:id="R176a1cc457fa44ae"/>
    <p:sldId xmlns:r="http://schemas.openxmlformats.org/officeDocument/2006/relationships" id="261" r:id="R4558f5521cff4e42"/>
    <p:sldId xmlns:r="http://schemas.openxmlformats.org/officeDocument/2006/relationships" id="262" r:id="R3c3688da24344101"/>
    <p:sldId xmlns:r="http://schemas.openxmlformats.org/officeDocument/2006/relationships" id="263" r:id="R78e1168d372f458e"/>
    <p:sldId xmlns:r="http://schemas.openxmlformats.org/officeDocument/2006/relationships" id="264" r:id="R3b479991e90645a9"/>
    <p:sldId xmlns:r="http://schemas.openxmlformats.org/officeDocument/2006/relationships" id="265" r:id="R692ffebb002c4304"/>
    <p:sldId xmlns:r="http://schemas.openxmlformats.org/officeDocument/2006/relationships" id="266" r:id="R5e50e8f8b03b45de"/>
    <p:sldId xmlns:r="http://schemas.openxmlformats.org/officeDocument/2006/relationships" id="267" r:id="R9c9c28dcd0254c2a"/>
    <p:sldId xmlns:r="http://schemas.openxmlformats.org/officeDocument/2006/relationships" id="268" r:id="R8222126c57f6484d"/>
    <p:sldId xmlns:r="http://schemas.openxmlformats.org/officeDocument/2006/relationships" id="269" r:id="Rde267448f3234579"/>
    <p:sldId xmlns:r="http://schemas.openxmlformats.org/officeDocument/2006/relationships" id="270" r:id="R9d12f954a703440b"/>
    <p:sldId xmlns:r="http://schemas.openxmlformats.org/officeDocument/2006/relationships" id="271" r:id="R9755c98ee92f49ae"/>
    <p:sldId xmlns:r="http://schemas.openxmlformats.org/officeDocument/2006/relationships" id="272" r:id="Rdbc1ee59d18c4faf"/>
    <p:sldId xmlns:r="http://schemas.openxmlformats.org/officeDocument/2006/relationships" id="273" r:id="R84327bf9dc424a5c"/>
    <p:sldId xmlns:r="http://schemas.openxmlformats.org/officeDocument/2006/relationships" id="274" r:id="R7923ad27f855429c"/>
    <p:sldId xmlns:r="http://schemas.openxmlformats.org/officeDocument/2006/relationships" id="275" r:id="R86e23b4fa5a94d31"/>
    <p:sldId xmlns:r="http://schemas.openxmlformats.org/officeDocument/2006/relationships" id="276" r:id="Rdb638614903f4427"/>
    <p:sldId xmlns:r="http://schemas.openxmlformats.org/officeDocument/2006/relationships" id="277" r:id="Rb66e217e75104d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d52dd0c0ff48e7" /><Relationship Type="http://schemas.openxmlformats.org/officeDocument/2006/relationships/slideMaster" Target="/ppt/slideMasters/slideMaster1.xml" Id="R9d9047dd246841ce" /><Relationship Type="http://schemas.openxmlformats.org/officeDocument/2006/relationships/notesMaster" Target="/ppt/notesMasters/notesMaster1.xml" Id="Rbb9b77fe215348ca" /><Relationship Type="http://schemas.openxmlformats.org/officeDocument/2006/relationships/presProps" Target="/ppt/presProps.xml" Id="Rab91580e92d0426a" /><Relationship Type="http://schemas.openxmlformats.org/officeDocument/2006/relationships/tableStyles" Target="/ppt/tableStyles.xml" Id="Ra69992a98e524d10" /><Relationship Type="http://schemas.openxmlformats.org/officeDocument/2006/relationships/slide" Target="/ppt/slides/slide1.xml" Id="Rff470a38ee594f52" /><Relationship Type="http://schemas.openxmlformats.org/officeDocument/2006/relationships/slide" Target="/ppt/slides/slide2.xml" Id="R7fdb55e6d95d42ce" /><Relationship Type="http://schemas.openxmlformats.org/officeDocument/2006/relationships/slide" Target="/ppt/slides/slide3.xml" Id="R03af0165152048e5" /><Relationship Type="http://schemas.openxmlformats.org/officeDocument/2006/relationships/slide" Target="/ppt/slides/slide4.xml" Id="R13671d09ee6a4dc3" /><Relationship Type="http://schemas.openxmlformats.org/officeDocument/2006/relationships/slide" Target="/ppt/slides/slide5.xml" Id="R176a1cc457fa44ae" /><Relationship Type="http://schemas.openxmlformats.org/officeDocument/2006/relationships/slide" Target="/ppt/slides/slide6.xml" Id="R4558f5521cff4e42" /><Relationship Type="http://schemas.openxmlformats.org/officeDocument/2006/relationships/slide" Target="/ppt/slides/slide7.xml" Id="R3c3688da24344101" /><Relationship Type="http://schemas.openxmlformats.org/officeDocument/2006/relationships/slide" Target="/ppt/slides/slide8.xml" Id="R78e1168d372f458e" /><Relationship Type="http://schemas.openxmlformats.org/officeDocument/2006/relationships/slide" Target="/ppt/slides/slide9.xml" Id="R3b479991e90645a9" /><Relationship Type="http://schemas.openxmlformats.org/officeDocument/2006/relationships/slide" Target="/ppt/slides/slide10.xml" Id="R692ffebb002c4304" /><Relationship Type="http://schemas.openxmlformats.org/officeDocument/2006/relationships/slide" Target="/ppt/slides/slide11.xml" Id="R5e50e8f8b03b45de" /><Relationship Type="http://schemas.openxmlformats.org/officeDocument/2006/relationships/slide" Target="/ppt/slides/slide12.xml" Id="R9c9c28dcd0254c2a" /><Relationship Type="http://schemas.openxmlformats.org/officeDocument/2006/relationships/slide" Target="/ppt/slides/slide13.xml" Id="R8222126c57f6484d" /><Relationship Type="http://schemas.openxmlformats.org/officeDocument/2006/relationships/slide" Target="/ppt/slides/slide14.xml" Id="Rde267448f3234579" /><Relationship Type="http://schemas.openxmlformats.org/officeDocument/2006/relationships/slide" Target="/ppt/slides/slide15.xml" Id="R9d12f954a703440b" /><Relationship Type="http://schemas.openxmlformats.org/officeDocument/2006/relationships/slide" Target="/ppt/slides/slide16.xml" Id="R9755c98ee92f49ae" /><Relationship Type="http://schemas.openxmlformats.org/officeDocument/2006/relationships/slide" Target="/ppt/slides/slide17.xml" Id="Rdbc1ee59d18c4faf" /><Relationship Type="http://schemas.openxmlformats.org/officeDocument/2006/relationships/slide" Target="/ppt/slides/slide18.xml" Id="R84327bf9dc424a5c" /><Relationship Type="http://schemas.openxmlformats.org/officeDocument/2006/relationships/slide" Target="/ppt/slides/slide19.xml" Id="R7923ad27f855429c" /><Relationship Type="http://schemas.openxmlformats.org/officeDocument/2006/relationships/slide" Target="/ppt/slides/slide20.xml" Id="R86e23b4fa5a94d31" /><Relationship Type="http://schemas.openxmlformats.org/officeDocument/2006/relationships/slide" Target="/ppt/slides/slide21.xml" Id="Rdb638614903f4427" /><Relationship Type="http://schemas.openxmlformats.org/officeDocument/2006/relationships/slide" Target="/ppt/slides/slide22.xml" Id="Rb66e217e75104d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163fdad3134e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4b08c0c00d48cf" /><Relationship Type="http://schemas.openxmlformats.org/officeDocument/2006/relationships/notesMaster" Target="/ppt/notesMasters/notesMaster1.xml" Id="Raec601e90b974d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35d87620554f8a" /><Relationship Type="http://schemas.openxmlformats.org/officeDocument/2006/relationships/notesMaster" Target="/ppt/notesMasters/notesMaster1.xml" Id="Rd63536f6424d4d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beb2a033864ccd" /><Relationship Type="http://schemas.openxmlformats.org/officeDocument/2006/relationships/notesMaster" Target="/ppt/notesMasters/notesMaster1.xml" Id="Rbf7f40a2c00948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e068cf0c86415d" /><Relationship Type="http://schemas.openxmlformats.org/officeDocument/2006/relationships/notesMaster" Target="/ppt/notesMasters/notesMaster1.xml" Id="R99cdee92aa824f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36906cd7e84624" /><Relationship Type="http://schemas.openxmlformats.org/officeDocument/2006/relationships/notesMaster" Target="/ppt/notesMasters/notesMaster1.xml" Id="R1118e1b8274b47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07fa75bde04fc7" /><Relationship Type="http://schemas.openxmlformats.org/officeDocument/2006/relationships/notesMaster" Target="/ppt/notesMasters/notesMaster1.xml" Id="R3a0e2514062f4f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dd0ba506154efd" /><Relationship Type="http://schemas.openxmlformats.org/officeDocument/2006/relationships/notesMaster" Target="/ppt/notesMasters/notesMaster1.xml" Id="Re780e1bb8bfb42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b167fb8bfa4190" /><Relationship Type="http://schemas.openxmlformats.org/officeDocument/2006/relationships/notesMaster" Target="/ppt/notesMasters/notesMaster1.xml" Id="Rc952dde743c443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0a2b77bd3e4df0" /><Relationship Type="http://schemas.openxmlformats.org/officeDocument/2006/relationships/notesMaster" Target="/ppt/notesMasters/notesMaster1.xml" Id="R27edd4ce0afb4d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243e047bb347e0" /><Relationship Type="http://schemas.openxmlformats.org/officeDocument/2006/relationships/notesMaster" Target="/ppt/notesMasters/notesMaster1.xml" Id="Rbbd9bf0c548b43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076eede40f4bcf" /><Relationship Type="http://schemas.openxmlformats.org/officeDocument/2006/relationships/notesMaster" Target="/ppt/notesMasters/notesMaster1.xml" Id="R5920f45b7e8945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6a43de769741e7" /><Relationship Type="http://schemas.openxmlformats.org/officeDocument/2006/relationships/notesMaster" Target="/ppt/notesMasters/notesMaster1.xml" Id="Rcd374eb6181145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b7f34cd92a4f1e" /><Relationship Type="http://schemas.openxmlformats.org/officeDocument/2006/relationships/notesMaster" Target="/ppt/notesMasters/notesMaster1.xml" Id="Refe47680011842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0423b0f5de4b05" /><Relationship Type="http://schemas.openxmlformats.org/officeDocument/2006/relationships/notesMaster" Target="/ppt/notesMasters/notesMaster1.xml" Id="Ra6bd19c5fc9742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137ca063d0487d" /><Relationship Type="http://schemas.openxmlformats.org/officeDocument/2006/relationships/notesMaster" Target="/ppt/notesMasters/notesMaster1.xml" Id="Raeeab29942a94d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01287c62bc444f" /><Relationship Type="http://schemas.openxmlformats.org/officeDocument/2006/relationships/notesMaster" Target="/ppt/notesMasters/notesMaster1.xml" Id="Rbc220da76bfb40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e423812909845d2" /><Relationship Type="http://schemas.openxmlformats.org/officeDocument/2006/relationships/notesMaster" Target="/ppt/notesMasters/notesMaster1.xml" Id="R76a64df41117437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7df9841e614685" /><Relationship Type="http://schemas.openxmlformats.org/officeDocument/2006/relationships/notesMaster" Target="/ppt/notesMasters/notesMaster1.xml" Id="R97c8b852588a4f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ac8d982e794981" /><Relationship Type="http://schemas.openxmlformats.org/officeDocument/2006/relationships/notesMaster" Target="/ppt/notesMasters/notesMaster1.xml" Id="Ra4e09ce2534a4b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f84cc774e9046b7" /><Relationship Type="http://schemas.openxmlformats.org/officeDocument/2006/relationships/notesMaster" Target="/ppt/notesMasters/notesMaster1.xml" Id="Ra35a95b193f6438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e4ec48d47b84a48" /><Relationship Type="http://schemas.openxmlformats.org/officeDocument/2006/relationships/notesMaster" Target="/ppt/notesMasters/notesMaster1.xml" Id="Rc7786cbb0ac3438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77db5b9d074f14" /><Relationship Type="http://schemas.openxmlformats.org/officeDocument/2006/relationships/notesMaster" Target="/ppt/notesMasters/notesMaster1.xml" Id="R3968961078d440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https://scikit-learn.org/1.9/modules/ensemble.html</a:t>
            </a:r>
          </a:p>
          <a:p xmlns:a="http://schemas.openxmlformats.org/drawingml/2006/main">
            <a:r>
              <a:t>https://scikit-learn.org/1.9/modules/ensemble.html</a:t>
            </a:r>
          </a:p>
          <a:p xmlns:a="http://schemas.openxmlformats.org/drawingml/2006/main">
            <a:r>
              <a:t>실험 수치: summary.csv, 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https://scikit-learn.org/1.9/modules/ensemble.html</a:t>
            </a:r>
          </a:p>
          <a:p xmlns:a="http://schemas.openxmlformats.org/drawingml/2006/main">
            <a:r>
              <a:t>https://scikit-learn.org/1.9/modules/ensemble.html</a:t>
            </a:r>
          </a:p>
          <a:p xmlns:a="http://schemas.openxmlformats.org/drawingml/2006/main">
            <a:r>
              <a:t>실험 수치: summary.csv, 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https://scikit-learn.org/stable/modules/tree.html</a:t>
            </a:r>
          </a:p>
          <a:p xmlns:a="http://schemas.openxmlformats.org/drawingml/2006/main">
            <a:r>
              <a:t>실험 수치: summary.csv, 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실험 수치: summary.csv, 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https://scikit-learn.org/stable/modules/svm.html</a:t>
            </a:r>
          </a:p>
          <a:p xmlns:a="http://schemas.openxmlformats.org/drawingml/2006/main">
            <a:r>
              <a:t>실험 수치: summary.csv, 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실험 수치: summary.csv, 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 출처: model_selection_v2/summary.csv, metrics.csv, protocol.json. 고정 설정 11개 방법의 시간순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b74e1ef994e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f85f1c39164c91" /><Relationship Type="http://schemas.openxmlformats.org/officeDocument/2006/relationships/slideLayout" Target="/ppt/slideLayouts/slideLayout1.xml" Id="R03b550b0bfa144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b550b0bfa144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6116d92ac43a1" /><Relationship Type="http://schemas.openxmlformats.org/officeDocument/2006/relationships/notesSlide" Target="/ppt/notesSlides/notesSlide1.xml" Id="R022ddb6e3a6645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774ba7f014f45" /><Relationship Type="http://schemas.openxmlformats.org/officeDocument/2006/relationships/notesSlide" Target="/ppt/notesSlides/notesSlide2.xml" Id="R94bd5d1c84f549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392b85c9c46e9" /><Relationship Type="http://schemas.openxmlformats.org/officeDocument/2006/relationships/notesSlide" Target="/ppt/notesSlides/notesSlide3.xml" Id="Rf1d494590a8646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bad8909de4588" /><Relationship Type="http://schemas.openxmlformats.org/officeDocument/2006/relationships/notesSlide" Target="/ppt/notesSlides/notesSlide4.xml" Id="R9d75f65cf12942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56928c4e042d9" /><Relationship Type="http://schemas.openxmlformats.org/officeDocument/2006/relationships/notesSlide" Target="/ppt/notesSlides/notesSlide5.xml" Id="Rf31e5b8f397644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9a2d30c694c43" /><Relationship Type="http://schemas.openxmlformats.org/officeDocument/2006/relationships/notesSlide" Target="/ppt/notesSlides/notesSlide6.xml" Id="Rd79ae0ad3df44a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ff777439f4bc6" /><Relationship Type="http://schemas.openxmlformats.org/officeDocument/2006/relationships/notesSlide" Target="/ppt/notesSlides/notesSlide7.xml" Id="Re8493b83248b41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f0423ea6b41a6" /><Relationship Type="http://schemas.openxmlformats.org/officeDocument/2006/relationships/notesSlide" Target="/ppt/notesSlides/notesSlide8.xml" Id="Rc1673d24071a4a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1c13fe56f4279" /><Relationship Type="http://schemas.openxmlformats.org/officeDocument/2006/relationships/notesSlide" Target="/ppt/notesSlides/notesSlide9.xml" Id="R5b72a37cefca48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bd122857b4715" /><Relationship Type="http://schemas.openxmlformats.org/officeDocument/2006/relationships/chart" Target="/ppt/slides/charts/chart1.xml" Id="R321c658f4ae24fd9" /><Relationship Type="http://schemas.openxmlformats.org/officeDocument/2006/relationships/notesSlide" Target="/ppt/notesSlides/notesSlide10.xml" Id="R6db15df777e04c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244d433734f8e" /><Relationship Type="http://schemas.openxmlformats.org/officeDocument/2006/relationships/notesSlide" Target="/ppt/notesSlides/notesSlide11.xml" Id="R8b90f4a4808447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f7f3c77534d4c" /><Relationship Type="http://schemas.openxmlformats.org/officeDocument/2006/relationships/notesSlide" Target="/ppt/notesSlides/notesSlide12.xml" Id="R5f74b863544d4a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4a9d318374cd6" /><Relationship Type="http://schemas.openxmlformats.org/officeDocument/2006/relationships/notesSlide" Target="/ppt/notesSlides/notesSlide13.xml" Id="Rc2e32542407a49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e69bf70d24536" /><Relationship Type="http://schemas.openxmlformats.org/officeDocument/2006/relationships/notesSlide" Target="/ppt/notesSlides/notesSlide14.xml" Id="R8044d2ea0d854f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ffcd8229341d8" /><Relationship Type="http://schemas.openxmlformats.org/officeDocument/2006/relationships/notesSlide" Target="/ppt/notesSlides/notesSlide15.xml" Id="R0de72dd2ad814d0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71b23d5224ad9" /><Relationship Type="http://schemas.openxmlformats.org/officeDocument/2006/relationships/notesSlide" Target="/ppt/notesSlides/notesSlide16.xml" Id="R033dd6fca45846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a68b58e4249e2" /><Relationship Type="http://schemas.openxmlformats.org/officeDocument/2006/relationships/notesSlide" Target="/ppt/notesSlides/notesSlide17.xml" Id="Ra67b7f2b68b544b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c1f01a92348d0" /><Relationship Type="http://schemas.openxmlformats.org/officeDocument/2006/relationships/notesSlide" Target="/ppt/notesSlides/notesSlide18.xml" Id="Rdd73029b250d49a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140a20f9b409e" /><Relationship Type="http://schemas.openxmlformats.org/officeDocument/2006/relationships/notesSlide" Target="/ppt/notesSlides/notesSlide19.xml" Id="Rb4dfbca9959a4a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96caab46744fd" /><Relationship Type="http://schemas.openxmlformats.org/officeDocument/2006/relationships/notesSlide" Target="/ppt/notesSlides/notesSlide20.xml" Id="R1eba2564a9a745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e2815bcbf4d77" /><Relationship Type="http://schemas.openxmlformats.org/officeDocument/2006/relationships/notesSlide" Target="/ppt/notesSlides/notesSlide21.xml" Id="R73bc9baf193b45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89ac7e6b84b80" /><Relationship Type="http://schemas.openxmlformats.org/officeDocument/2006/relationships/notesSlide" Target="/ppt/notesSlides/notesSlide22.xml" Id="R5fbcf5d3d71e405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2468A0"/>
            </a:solidFill>
          </c:spPr>
          <c:cat>
            <c:strRef>
              <c:f>'Chart Data'!$A$2:$A$6</c:f>
              <c:strCache>
                <c:ptCount val="5"/>
                <c:pt idx="0">
                  <c:v>HGB</c:v>
                </c:pt>
                <c:pt idx="1">
                  <c:v>랜덤포레스트</c:v>
                </c:pt>
                <c:pt idx="2">
                  <c:v>ExtraTrees</c:v>
                </c:pt>
                <c:pt idx="3">
                  <c:v>의사결정나무</c:v>
                </c:pt>
                <c:pt idx="4">
                  <c:v>Gradient Boosting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16.85</c:v>
                </c:pt>
                <c:pt idx="1">
                  <c:v>17.55</c:v>
                </c:pt>
                <c:pt idx="2">
                  <c:v>17.47</c:v>
                </c:pt>
                <c:pt idx="3">
                  <c:v>18.94</c:v>
                </c:pt>
                <c:pt idx="4">
                  <c:v>19.06</c:v>
                </c:pt>
              </c:numCache>
            </c:numRef>
          </c:val>
        </c:ser>
        <c:ser>
          <c:idx val="1"/>
          <c:order val="1"/>
          <c:tx>
            <c:v>RMSE</c:v>
          </c:tx>
          <c:spPr>
            <a:solidFill xmlns:a="http://schemas.openxmlformats.org/drawingml/2006/main">
              <a:srgbClr val="8BAAC1"/>
            </a:solidFill>
          </c:spPr>
          <c:cat>
            <c:strRef>
              <c:f>'Chart Data'!$C$2:$C$6</c:f>
              <c:strCache>
                <c:ptCount val="5"/>
                <c:pt idx="0">
                  <c:v>HGB</c:v>
                </c:pt>
                <c:pt idx="1">
                  <c:v>랜덤포레스트</c:v>
                </c:pt>
                <c:pt idx="2">
                  <c:v>ExtraTrees</c:v>
                </c:pt>
                <c:pt idx="3">
                  <c:v>의사결정나무</c:v>
                </c:pt>
                <c:pt idx="4">
                  <c:v>Gradient Boosting</c:v>
                </c:pt>
              </c:strCache>
            </c:str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23.45</c:v>
                </c:pt>
                <c:pt idx="1">
                  <c:v>26.2</c:v>
                </c:pt>
                <c:pt idx="2">
                  <c:v>27.66</c:v>
                </c:pt>
                <c:pt idx="3">
                  <c:v>29.59</c:v>
                </c:pt>
                <c:pt idx="4">
                  <c:v>25.67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AF0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Apple SD Gothic Neo"/>
              <a:ea typeface="Apple SD Gothic Neo"/>
              <a:cs typeface="Apple SD Gothic Neo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E5ED8-AE6B-4252-ACD4-F4C3284D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제조공장 전력 예측 모델 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274FC-FCE3-4C0B-B945-11F69EAF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C06B0-46C5-421B-BB05-1E8BD719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858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어떤 모델을 선택하고,</a:t>
            </a:r>
          </a:p>
          <a:p xmlns:a="http://schemas.openxmlformats.org/drawingml/2006/main">
            <a:pPr>
              <a:defRPr sz="457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57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왜 선택하는가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89DFD-8C6D-4BFD-90B8-450932E2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386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데이터 특성과 검증 결과에 근거한 11개 방법 비교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CBC1C-F131-4CC0-B0A6-9ADEF00C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2026.10  ·  모델 선정 보고서</a:t>
            </a:r>
          </a:p>
        </p:txBody>
      </p:sp>
    </p:spTree>
    <p:extLst>
      <p:ext uri="{BB962C8B-B14F-4D97-AF65-F5344CB8AC3E}">
        <p14:creationId xmlns:p14="http://schemas.microsoft.com/office/powerpoint/2010/main" val="13489451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EFECE-E910-4883-932F-914A103B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목차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7F057-9D2D-44EA-9B1E-3F0F38CD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분석 목적에서 출발해 데이터, 후보, 평가 근거를 거쳐 모델을 결정합니다.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05F9E-2C26-4E62-A621-D7028335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15D48-D76A-43AE-89AA-9B0A048C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01  분석 목적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DB7D8-E6D0-4986-BEB4-56FF2052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해결할 문제와 선정 목표  /  3쪽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41818-3434-4172-A2FC-169427E7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02  데이터 특징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BED7E-296D-47E0-9341-C337B70F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구조, 품질, 모델링에 주는 의미  /  4–5쪽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5ED6B-C13E-4615-8A6D-30DE309C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03  후보 모델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D772E8-4997-4983-AF6B-3A9F7118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38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비교할 11개 방법과 후보 선정 이유  /  6쪽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31645-F350-4A15-8761-35E88EAF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04  선정 기준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2C596-2DA1-4B11-85CC-D8789891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00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평가 설계, 정량 결과와 실무 비교  /  7–12쪽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02BE2-EB75-486A-8D49-76A240AE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05  최종 결정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9C234-3260-489C-A934-D731DB78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62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선정 이유, 대안과 적용 범위  /  13–14쪽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DAEE8-D425-4CEC-AB28-E411C396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부록 15–22쪽: 11개 방법별 장단점, 전체 종합 순위, 주요 고정 설정</a:t>
            </a:r>
          </a:p>
        </p:txBody>
      </p:sp>
    </p:spTree>
    <p:extLst>
      <p:ext uri="{BB962C8B-B14F-4D97-AF65-F5344CB8AC3E}">
        <p14:creationId xmlns:p14="http://schemas.microsoft.com/office/powerpoint/2010/main" val="20174863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D8F3E-8039-4B8B-AE68-F320FD1C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01  분석 목적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A296C-C89E-4C94-9F9B-D4C08ED3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생산량·날씨·시간 정보를 이용해 시간별 전력값을 예측할 모델을 선정합니다.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0E710-3616-4F21-87DF-B490E604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2FAEE-803F-48DC-A992-5305A858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해결할 문제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482D1-0052-437A-8382-0B61CF49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평균 오차가 작다는 이유만으로 모델을 선택하면</a:t>
            </a:r>
          </a:p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큰 오차나 기간 변화에 따른 성능 저하를 놓칠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ADD71-ABFF-4301-AA6A-72D1580C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예측 목표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34952-44BB-4140-ACED-69DB60BC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670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한 시간에 기록된 15분·30분·45분·60분 전력값 4개를 예측합니다.</a:t>
            </a:r>
          </a:p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이번 작업의 산출물은 모델 선정과 그 근거입니다.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CB75F-E1A9-47C7-BF95-6E359C18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선정 목표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FD061-0A97-4E46-A617-BD5AAC77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195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검증 MAE·RMSE가 작고 기간별 성능이 안정적인 모델을 찾습니다.</a:t>
            </a:r>
          </a:p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학습·검증 차이, 설명 가능성, 실행 시간도 함께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9BAF9-F9C1-4CE8-A7ED-B6348381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성과 판단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09F4E-5E52-4172-81E7-1465B667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현장 허용 오차 목표값은 아직 주어지지 않았습니다.</a:t>
            </a:r>
          </a:p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따라서 절대 합격 판정 대신 같은 데이터에서 후보를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1575361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DF2F9-EA7F-42B9-A9DC-8ACEA00C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02  데이터 구조와 품질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952B3-09CD-4EAC-AEC4-DE7AD4B5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원본은 시간별 정형 데이터입니다. 한 행에 전력 관측값 4개와 운영·날씨 정보가 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94AF6-6465-4EC5-8C25-1323E8FB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603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확인한 내용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 규모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6,168행 × 18열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분석 규모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유효한 6,120행  ·  날짜·시간·값 등의 조건으로 48행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모델 입력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생산량 1개, 날씨 4개, 시간 관련 파생변수 5개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 결측치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풍속 3건 (0.049%), 강수량 1건 (0.016%)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기타 결측치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공장인원 17건 (0.276%)  ·  이번 모델 입력에서는 제외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A5E6A-26C4-4A4A-927A-E1BA2176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결측률의 분모는 원본 6,168행입니다. 전력 오차는 원자료 단위를 유지하며 kW/kWh 변환은 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2849859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7B342-1AEA-40AE-A0F4-B6348F33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02  데이터 특징이 모델링에 주는 의미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64B50-CEAE-4240-9FE9-898E486D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603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데이터 특징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분석 설계에 반영한 내용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 순서가 있는 기록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과거만 학습하고 이후 기간을 평가해 미래 정보 유입 방지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생산량·날씨·시간이 함께 존재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선형 모델과 비선형 모델을 모두 후보에 포함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목표 전력값이 4개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같은 네 목표의 오차를 모든 모델에서 공통 계산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일부 날씨 값의 결측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각 학습 구간의 중앙값으로 대치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전력에서 계산한 평균 열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정답 정보가 입력에 섞이지 않도록 입력에서 제외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CF943-7CB3-4BC3-95E5-3BA050B0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비선형 모델이 더 좋을지는 검증으로 판단합니다. 관측 날씨와 생산량을 예측 시점에 확보할 수 있다는 가정이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996371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180E4-74F5-4119-84A7-6A440595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03  후보 모델과 비교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FFD27-43C1-4085-81D3-DE829D46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한 종류의 알고리즘에 치우치지 않도록 서로 다른 학습 방식의 후보를 구성했습니다.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C290E-D9F8-4A7F-BEC1-FFD5DA3A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4572000"/>
                <a:gridCol w="4257675"/>
              </a:tblGrid>
              <a:tr h="603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분류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후보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비교하는 이유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단순 기준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요일·시간 평균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복잡한 모델의 개선 정도 확인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선형 회귀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Ridge, ElasticNet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단순하고 해석 가능한 기준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사례·커널 기반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KNN, SVR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유사 사례와 비선형 관계의 효과 확인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나무 기반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의사결정나무, RF, ExtraTrees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조건 분기와 여러 나무 평균 비교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부스팅 / 신경망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Gradient Boosting, HGB, MLP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오차 보완 학습과 신경망 비교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9966F-0A8E-40F4-B172-784D6336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RF는 랜덤포레스트입니다. 기존 비교 대상 11개 방법을 유지했고, 알고리즘마다 고정 설정 하나씩 평가했습니다.</a:t>
            </a:r>
          </a:p>
        </p:txBody>
      </p:sp>
    </p:spTree>
    <p:extLst>
      <p:ext uri="{BB962C8B-B14F-4D97-AF65-F5344CB8AC3E}">
        <p14:creationId xmlns:p14="http://schemas.microsoft.com/office/powerpoint/2010/main" val="1864782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2A1C6-8DFA-482B-9CCC-09915F78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04  모델 선정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02A91-8562-4179-8E0C-3E6DAA01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예측 성능을 먼저 비교하고 안정성·일반화·실제 사용 조건을 함께 검토합니다.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E3EF3-CC06-4DB4-82A9-37A0DD39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810125"/>
                <a:gridCol w="3686175"/>
              </a:tblGrid>
              <a:tr h="603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평가 관점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지표 또는 확인 방법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선정에서의 역할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예측 성능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MAE, RMSE, R²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MAE·RMSE 정량 반영, R² 참고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기간별 안정성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MAE 표준편차, 최악 기간 MAE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기간 변화에 따른 오차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일반화 상태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학습 MAE와 검증 MAE 차이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학습한 자료에서만 잘 맞는지 진단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해석 가능성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규칙·계수·개별 예측 설명의 난이도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정성 비교, 점수화하지 않음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연산 속도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학습 시간, 배치 예측 시간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운영 조건의 보조 기준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2DE66-B7A5-4FBF-AE12-09DB07E7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MAE·RMSE는 작을수록, R²는 클수록 좋습니다. 과소예측률·적중률·피크 지표는 이번 평가에서 사용하지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6085284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32719-0EAE-44EC-812E-5454436F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04  과거를 학습하고 이후 기간을 예측하는 시간순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1EE11-3076-445E-BF27-2833774F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검증 구간 3개로 순위를 고정한 다음 기존 테스트 기간을 확인했습니다.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D2C80-5671-4C48-9F7E-CB2EE033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3524250"/>
                <a:gridCol w="3524250"/>
                <a:gridCol w="25908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구간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학습 기간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평가 기간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평가 행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CV1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01-01 ~ 04-12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04-13 ~ 05-20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912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CV2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01-01 ~ 05-20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05-21 ~ 06-27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CV3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01-01 ~ 06-27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06-28 ~ 08-06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912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테스트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01-01 ~ 06-27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08-07 ~ 09-14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8492B-B66E-40C3-9F37-C4752BE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검증마다 학습 범위를 넓혔습니다. 세 검증 구간의 결과를 같은 비중으로 평균했습니다.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C70DB-EFE3-434B-B798-02697928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날짜는 모두 2021년입니다. 테스트 학습은 이전 비교와 맞춰 6월 27일까지로 고정했고 검증 자료로 재학습하지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20413162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16EF2-3DFB-4732-8050-BA3CACC0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04  정량 순위 계산 규칙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0F91D-1A72-4327-B61A-704B8401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과소예측률·적중률·피크 지표는 이번 평가와 순위에서 제외했습니다.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5D99E-C520-4ABB-BAD5-CFA91E29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333500"/>
                <a:gridCol w="6877050"/>
              </a:tblGrid>
              <a:tr h="6429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평가 축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비중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반영 지표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정확도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60%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MAE와 RMSE의 순위 점수를 절반씩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기간별 안정성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MAE 표준편차와 최악 MAE의 순위 점수를 절반씩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학습·검증 차이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15%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각 검증 구간의 양수 MAE 차이를 평균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AA7E0-CD9B-45E4-A9B9-12525729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지표별 점수 = 100 × (11 − 지표 순위) ÷ 10</a:t>
            </a:r>
          </a:p>
          <a:p xmlns:a="http://schemas.openxmlformats.org/drawingml/2006/main">
            <a:pPr>
              <a:defRPr sz="2100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동점은 평균 순위. 각 축의 점수에 비중을 곱해 합산합니다.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5A7EE-2C1B-43A9-9487-6C74122B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가중치는 이번 분석의 가정입니다. R²의 중복 반영을 피하고, 시간은 사용 환경에 따라 별도로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6923910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24368-EF6D-4959-8F92-2434D3E3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HGB는 검증 MAE와 RMSE에서 모두 가장 작은 오차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7723B-1B9E-4BAA-BF94-E9BFCA62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종합 상위 5개 방법의 정확도를 비교합니다.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01317-ACDA-493F-B9DC-AE9D4569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1c658f4ae24fd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8E784-C64C-4058-A98D-C0407617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Gradient Boosting은 RMSE 2위지만 기간별 성능 변동이 커 종합 순위에서는 5위입니다.</a:t>
            </a:r>
          </a:p>
        </p:txBody>
      </p:sp>
    </p:spTree>
    <p:extLst>
      <p:ext uri="{BB962C8B-B14F-4D97-AF65-F5344CB8AC3E}">
        <p14:creationId xmlns:p14="http://schemas.microsoft.com/office/powerpoint/2010/main" val="18102609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B8722-8A36-4F8A-8E33-F64C3002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04  정확도와 안정성의 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CB4B8-7AC2-41FF-9D07-1320B221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상위 후보의 장점이 서로 다르므로 평균 오차와 기간별 오차를 함께 확인합니다.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0AA10-0DB5-4987-91DB-939FEBF3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52800"/>
                <a:gridCol w="1714500"/>
                <a:gridCol w="2000250"/>
                <a:gridCol w="1714500"/>
                <a:gridCol w="2190750"/>
              </a:tblGrid>
              <a:tr h="508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방법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 MAE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MAE 표준편차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최악 MAE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학습·검증 차이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HGB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16.85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4.30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21.77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4.58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랜덤포레스트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17.55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18.94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10.05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ExtraTrees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17.47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1.75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18.57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10.60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의사결정나무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18.94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20.60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7.91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Gradient Boosting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19.06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5.11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24.97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1.28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329F7-E310-4DBA-8EEC-9684D775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HGB는 평균 오차가 가장 작고, 랜덤포레스트는 기간별 변동이 가장 작습니다.</a:t>
            </a:r>
          </a:p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ExtraTrees는 가장 나쁜 검증 기간에서도 MAE 18.57을 기록했습니다.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CA5A6-9B19-4382-8DEC-C041BCA4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학습·검증 차이는 과적합의 확정 판정이 아닙니다. 시간에 따른 분포 변화나 과소적합도 함께 고려해야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8401329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4C3F3-CD28-48E7-B526-E1808018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04  상위 후보의 실무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DF2B2-0EFE-42DE-930E-46116058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수치는 검증 3회 평균이고, 설명 가능성은 모델 구조에 대한 정성 판단입니다.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0B1A7-965D-4B63-BE59-E1D0CDC9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2809875"/>
                <a:gridCol w="2819400"/>
                <a:gridCol w="28194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비교 항목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HGB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랜덤포레스트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ExtraTrees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정확도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MAE·RMSE 최소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MAE 17.55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MAE 17.47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안정성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표준편차 4.30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표준편차 1.23, 최소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최악 MAE 18.57, 최소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학습·검증 차이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4.58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10.05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10.60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학습 시간 / 예측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0.520초 / 0.0192ms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0.584초 / 0.0290ms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0.350초 / 0.0297ms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해석 가능성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여러 나무의 결합, 복잡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여러 나무의 평균, 복잡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무작위 나무의 평균, 복잡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C7147-C4F6-4745-944A-4F541FB3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예측 시간은 배치 시간/행 수이며 단건 지연이 아닙니다. 규칙 설명이 최우선이면 단일 의사결정나무도 대안입니다.</a:t>
            </a:r>
          </a:p>
        </p:txBody>
      </p:sp>
    </p:spTree>
    <p:extLst>
      <p:ext uri="{BB962C8B-B14F-4D97-AF65-F5344CB8AC3E}">
        <p14:creationId xmlns:p14="http://schemas.microsoft.com/office/powerpoint/2010/main" val="8889673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0F779-57E2-42AA-B8D2-43AC628F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05  최종 결정과 선정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D83C8-125B-489F-8CDA-5D1DBD4E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2BE2B-E66A-4BAC-B0BA-27FF112C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기본 모델: HGB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258D6-0DB7-45AA-9F5A-23EB0DBE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선정 근거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32D80-1ADE-4CA1-AB2B-033CF2C8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검증 MAE 16.85와 RMSE 23.45가 모두 최소입니다.</a:t>
            </a:r>
          </a:p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정확도·안정성·학습검증 차이를 반영한 점수는 80.25로 1위입니다.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CC8AD-2DD7-457E-9A1F-B13603F2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조건부 대안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84A2F-D39F-4FD5-AB63-E40651AD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290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기간별 안정성을 가장 중요하게 보면 랜덤포레스트를 선택합니다.</a:t>
            </a:r>
          </a:p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안정성 비중 45%에서는 RF 1위, ExtraTrees 2위, HGB 4위입니다.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6EA37-3042-4593-80E2-C3AF8CF8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보조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13EEC-462E-47B7-99C9-66EDC931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815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기존 테스트 기간의 MAE는 ExtraTrees가 8.63으로 최소였습니다.</a:t>
            </a:r>
          </a:p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테스트 값으로 선정 순위를 바꾸지는 않았습니다.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8A2EE-8F1D-4498-BB01-42541778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선정의 핵심은 검증 정확도입니다. HGB의 기간별 변동과 복잡한 설명 구조는 적용 시 함께 고려해야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5556928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BED95-6D45-48F1-B066-438AAAE1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05  적용 범위와 다음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6BF12-58E3-4E67-AD38-9919008C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DD6A4-2A62-43ED-B436-7DA2B94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이번에 결정한 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93C1E-E480-43E9-8292-372572AB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고정 설정과 현재 평가 기준에서 HGB를 기본 후보로 선정했습니다.</a:t>
            </a:r>
          </a:p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최적화 담당자에게 RF·ExtraTrees의 비교 결과도 함께 전달합니다.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8B7C7-63FC-4572-947A-74D72214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아직 확인할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8441F-1502-4B6B-AB9A-44C06F3E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670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새로운 기간에서 성능이 유지되는지 확인해야 합니다.</a:t>
            </a:r>
          </a:p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기존 테스트는 과거에도 열람한 자료이며, 증강 데이터의 계보는 미확인입니다.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7E9A3-D189-4857-AF02-324E2883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현장 적용 조건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2E4E1-EA5B-4A36-ABEA-11F211AB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195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예측 시점에 입력을 확보할 수 있는지와 허용 오차를 확인합니다.</a:t>
            </a:r>
          </a:p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관측 날씨 대신 예보를 사용한다면 그 조건으로 다시 평가해야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93AC3-1191-4174-A0F8-B5616EBF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결론의 한계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B9579-9C32-441B-9BD4-080CFAA0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720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모델별 최적 성능이나 실제 비용 절감을 입증한 결과는 아닙니다.</a:t>
            </a:r>
          </a:p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생산계획 최적화와 하이퍼파라미터 탐색은 별도 작업입니다.</a:t>
            </a:r>
          </a:p>
        </p:txBody>
      </p:sp>
    </p:spTree>
    <p:extLst>
      <p:ext uri="{BB962C8B-B14F-4D97-AF65-F5344CB8AC3E}">
        <p14:creationId xmlns:p14="http://schemas.microsoft.com/office/powerpoint/2010/main" val="2025254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72995-FE14-4176-99B0-628C0E8D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HGB와 랜덤포레스트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9C1FD-A44E-4AE4-84AD-167E3F40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E0D52-3FFA-4EE8-ABDE-0F49454B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HGB  ·  종합 1위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38AC4-153E-44EF-9541-08C4A44F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구간화한 입력으로 나무를 순차 학습해 앞선 오차를 보완합니다.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26FDB-D64B-40F6-B8D1-8D87A9DF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장점  비선형 관계를 학습하며 이번 검증 MAE·RMSE가 가장 작습니다.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3E822-F9A1-4FFF-BCBF-EBD3A2CB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한계  기간별 MAE 편차가 RF·ExtraTrees보다 큽니다. 개별 예측 설명도 복잡합니다.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D94A4-6EDD-48E3-BF3A-99A30732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랜덤포레스트  ·  종합 2위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BCBD2-1816-42B7-9069-2F80EAF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서로 다른 표본으로 학습한 여러 나무의 예측을 평균합니다.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4EA2D-C7D4-46BE-A282-FD6DC1E0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장점  이번 검증의 기간별 MAE 표준편차가 1.23으로 가장 작습니다.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A005C-7E8A-448E-A89C-E14418B5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한계  학습 MAE 7.51에서 검증 17.55로 커집니다. 모델 규모와 추론 비용도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8335570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329E5-0749-492E-9D70-1FE9C918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ExtraTrees와 Gradient Boosting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3D19E-76E5-42B6-BB01-A0F96B98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E2C55-4072-4FB5-8D77-68B14CF6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ExtraTrees  ·  종합 3위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979A5-BCC8-4914-8F88-A0F51927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나무의 분할 기준을 더 무작위로 정해 여러 예측을 평균합니다.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8ADE5-538B-4EBA-A434-E7E3490A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장점  최악 검증 기간의 MAE 18.57이 가장 작고, 테스트 MAE도 가장 작습니다.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252BE-C547-4E4B-823B-5BC9839D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한계  검증 RMSE 27.66은 HGB·RF보다 큽니다. 학습·검증 오차 차이도 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0ED2F-44C9-4C25-8F44-6E1153F7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Gradient Boosting  ·  종합 5위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BCB5F-64D6-42A7-9AEA-ACA1E2BD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작은 나무를 차례로 더하며 이전 예측의 오차를 줄입니다.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3C9EF-2DC6-42AA-AF8E-CC6A773F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장점  검증 RMSE 25.67로 2위입니다. 큰 오차를 줄이는 비교 후보입니다.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090E0-46F9-48A9-BF49-CB5EEE70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한계  검증 MAE 표준편차가 5.11입니다. 이번 환경에서는 HGB보다 학습이 느립니다.</a:t>
            </a:r>
          </a:p>
        </p:txBody>
      </p:sp>
    </p:spTree>
    <p:extLst>
      <p:ext uri="{BB962C8B-B14F-4D97-AF65-F5344CB8AC3E}">
        <p14:creationId xmlns:p14="http://schemas.microsoft.com/office/powerpoint/2010/main" val="5125049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217E6-BF8C-4888-8C1D-39CACFE7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의사결정나무와 요일·시간 평균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2F3FF-7BA2-4CBE-B42C-B4E8C194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71C66-7C17-4813-BAA3-E6174247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의사결정나무  ·  종합 4위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7A763-A1B2-46FC-BB43-E28641D4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입력 조건을 차례로 나누어 각 구간의 전력을 예측합니다.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27BB1-F01E-490D-A97A-FC244DE1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장점  예측 규칙을 추적할 수 있고 이번 측정에서 학습·예측이 빠릅니다.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B70C7-A6EA-49AD-ADF6-4565335C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한계  검증 RMSE 29.59로 상위 앙상블보다 큽니다. 나무 깊이에 따라 복잡성이 커집니다.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22976-5CD9-48DD-AD2A-AC108E8F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요일·시간 평균  ·  종합 6위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1337A-B775-4BC3-9FD0-66EC51D7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과거의 같은 요일·시간에 관측한 전력의 평균을 사용합니다.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DFD0C-14BE-4ECB-A6E5-CCD70D7D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장점  방식이 단순하고 새 모델의 개선 정도를 비교하기 쉽습니다.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F3437-1775-4A5B-9589-76B2FCC8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한계  생산량·날씨 변화에 직접 반응하지 않습니다. 검증 MAE가 31.47입니다.</a:t>
            </a:r>
          </a:p>
        </p:txBody>
      </p:sp>
    </p:spTree>
    <p:extLst>
      <p:ext uri="{BB962C8B-B14F-4D97-AF65-F5344CB8AC3E}">
        <p14:creationId xmlns:p14="http://schemas.microsoft.com/office/powerpoint/2010/main" val="20086628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429F4-75B5-48BC-BA8D-F68F75B6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Ridge와 ElasticNet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795B1-D0B1-4747-B8A5-62848718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5BAFA-8970-4BCF-AC3F-DA996BAF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Ridge  ·  종합 10위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963E9-FA8B-41BE-A291-B447F01B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입력의 선형 영향을 더하되 계수 크기를 제한합니다.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E98F2-2166-4543-895F-E69CBF38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장점  계수로 관계를 설명하기 쉽고 계산 비용이 작습니다.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E1EEB-94BD-4C19-8E47-2826DE75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한계  검증 MAE 37.27입니다. 현재 입력의 선형 조합으로는 정확도가 부족합니다.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E301A-9CB3-4818-904A-0174DBA5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ElasticNet  ·  종합 9위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26CC9-FB26-438D-A35D-D7C4EBDF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선형 모델에 계수 축소와 변수 선택 성격의 규제를 함께 적용합니다.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2F620-CDE8-4ADE-83C6-F44E7DB4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장점  변수 효과를 간결하게 정리하는 데 유용합니다.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27692-0C86-48D2-B94A-FF5D98E0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한계  검증 MAE 37.34입니다. 작은 학습·검증 차이만으로 좋은 모델이라 볼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76737216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421CA-F547-4DC3-A468-45375713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KNN과 SVR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3C41DC-1774-478B-8A26-066DBA3E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A803C-4D7D-42FA-BFBD-0299B1FF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KNN  ·  종합 7위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F2F8C-CD2D-44E0-BC53-72ECA7A7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입력이 가까운 과거 15개 사례를 거리 가중 평균합니다.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F2BAF-897F-4952-A21D-4913CBD2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장점  가까운 사례를 보여주며 예측 근거를 설명할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8EA3E-4743-4D6C-939D-C8C90FB9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한계  학습 데이터를 다시 예측하면 자기 자신을 참조해 오차가 거의 0입니다. 검증 MAE는 31.40입니다.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32EAB-5CFA-49CB-B7EB-D830824C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SVR  ·  종합 11위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D26BF-E81E-4488-ADC3-62663801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커널로 비선형 관계를 표현하고 오차 허용폭 안의 예측을 학습합니다.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EF954-F16F-4B1D-BE5D-10AEBA9D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장점  커널과 규제로 복잡한 관계를 표현할 수 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FF4C0-7A10-43FC-8948-4781E954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한계  검증 RMSE 44.38이 가장 큽니다. 이번 측정의 배치 예측도 가장 느립니다.</a:t>
            </a:r>
          </a:p>
        </p:txBody>
      </p:sp>
    </p:spTree>
    <p:extLst>
      <p:ext uri="{BB962C8B-B14F-4D97-AF65-F5344CB8AC3E}">
        <p14:creationId xmlns:p14="http://schemas.microsoft.com/office/powerpoint/2010/main" val="4781246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E9CB1-3F83-46FC-B7AD-6029B1F8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MLP 신경망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21189-A2BF-4DE2-A48E-B240911D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E793C-B07E-4F82-BF21-8EE38596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MLP  ·  종합 8위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1340D-7E9C-4539-B3B2-348C7B8A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06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두 은닉층의 신경망으로 입력과 전력의 비선형 관계를 학습합니다.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F7D04-18C3-4C05-B6C1-83F0F661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0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장점  복잡한 변수 관계를 표현할 수 있고 예측 계산은 비교적 빠릅니다.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28569-D5DC-4405-A1AA-0C3B833C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한계  학습 MAE 12.68에 비해 검증 30.86입니다. 현재 설정의 일반화 성능이 부족합니다.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4EB7B-80C0-402F-B585-ADECE3E3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468A0"/>
                </a:solidFill>
                <a:latin typeface="Apple SD Gothic Neo"/>
                <a:ea typeface="Apple SD Gothic Neo"/>
                <a:cs typeface="Apple SD Gothic Neo"/>
              </a:rPr>
              <a:t>이번 설정에서 채택을 보류하는 이유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F9E0C-A466-4576-9EDF-1AC89A52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검증 MAE 30.86, 테스트 MAE 34.82로 상위 나무 기반 모델보다 큽니다.</a:t>
            </a:r>
          </a:p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학습 MAE 12.68과 차이가 있어 현재 설정의 일반화 성능을 확인해야 합니다.</a:t>
            </a:r>
          </a:p>
          <a:p xmlns:a="http://schemas.openxmlformats.org/drawingml/2006/main">
            <a:pPr>
              <a:def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0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이 결과만으로 신경망 전체가 나쁘다고 결론 내리지는 않습니다.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E789D-E527-4EAA-959D-F7043DCD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은닉층 64·32, 최대 500회 학습의 고정 설정입니다. 이번 실행에서는 수렴 경고가 기록되지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6818829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E47F9-F517-46D7-B01F-57932D0C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전체 종합 순위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90502-9930-4736-A03C-CAA11811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검증 3개 구간 평균. 점수는 높을수록, MAE·RMSE는 낮을수록 좋습니다.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B4566-490C-4D05-BBE4-E1957715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9625"/>
                <a:gridCol w="3305175"/>
                <a:gridCol w="1714500"/>
                <a:gridCol w="1714500"/>
                <a:gridCol w="1714500"/>
                <a:gridCol w="1714500"/>
              </a:tblGrid>
              <a:tr h="338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순위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방법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점수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MAE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RMSE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R²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HGB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80.25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16.85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23.45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0.818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랜덤포레스트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77.75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17.55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26.20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0.787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ExtraTrees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76.25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17.47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27.66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0.765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의사결정나무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66.50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18.94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29.59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0.728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Gradient Boosting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64.50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19.06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25.67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0.779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요일·시간 평균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31.47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39.83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0.516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KNN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39.00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31.40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41.16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0.476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MLP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30.86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42.58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0.416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ElasticNet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26.00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37.34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43.91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0.414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Ridge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24.50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37.27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43.92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0.414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SVR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19.00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33.22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44.38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0.381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9E461-B1A5-4A58-961F-0AD2E1EA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단순 기준모델을 포함한 11개 방법의 상대 순위입니다. 고정 설정에서의 결과이며 알고리즘의 절대적인 우열은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6652591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6550C-9FDD-46EB-A10F-AB8DC717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142B44"/>
                </a:solidFill>
                <a:latin typeface="Apple SD Gothic Neo"/>
                <a:ea typeface="Apple SD Gothic Neo"/>
                <a:cs typeface="Apple SD Gothic Neo"/>
              </a:rPr>
              <a:t>부록 · 알고리즘별 주요 고정 설정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E559E-52C6-4760-B489-5BE7F18C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14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그리드 탐색 없이 한 설정씩 비교했습니다. 전체 설정은 compare.py에 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15EA1-851F-4839-ACE3-1D68A38C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338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방법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주요 설정</a:t>
                      </a:r>
                    </a:p>
                  </a:txBody>
                  <a:tcPr marL="91440" marR="91440" marT="45720" marB="45720">
                    <a:solidFill>
                      <a:srgbClr val="142B4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HGB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180회, 학습률 0.07, 최대 리프 15, 최소 리프 표본 20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랜덤포레스트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나무 160개, 최대 깊이 16, 최소 리프 표본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ExtraTrees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나무 160개, 최대 깊이 16, 최소 리프 표본 3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의사결정나무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깊이 12, 최소 리프 표본 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Gradient Boosting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180개, 학습률 0.07, 깊이 3, 최소 리프 표본 10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요일·시간 평균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학습 자료의 같은 요일·시간 평균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KNN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이웃 15개, 거리 가중 평균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MLP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은닉층 (64, 32), 최대 500회, alpha 0.001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ElasticNet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alpha 0.01, l1_ratio 0.5, 최대 3,000회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Ridge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alpha 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SVR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B44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RBF 커널, C 10, epsilon 0.1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506C0-947D-4196-BFD0-F00DEA0C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6677A"/>
                </a:solidFill>
                <a:latin typeface="Apple SD Gothic Neo"/>
                <a:ea typeface="Apple SD Gothic Neo"/>
                <a:cs typeface="Apple SD Gothic Neo"/>
              </a:rPr>
              <a:t>난수 시드는 42입니다. Ridge·ElasticNet·KNN·SVR·MLP는 입력과 목표를 학습 구간 기준으로 표준화합니다.</a:t>
            </a:r>
          </a:p>
        </p:txBody>
      </p:sp>
    </p:spTree>
    <p:extLst>
      <p:ext uri="{BB962C8B-B14F-4D97-AF65-F5344CB8AC3E}">
        <p14:creationId xmlns:p14="http://schemas.microsoft.com/office/powerpoint/2010/main" val="946544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2026-10-03T16:06:25.1260000Z</dcterms:created>
  <dcterms:modified xsi:type="dcterms:W3CDTF">2026-10-03T16:06:25.1260000Z</dcterms:modified>
</coreProperties>
</file>